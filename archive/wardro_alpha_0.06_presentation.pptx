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4572000" cy="3657600"/>
          </a:xfrm>
          <a:prstGeom prst="ellipse">
            <a:avLst/>
          </a:prstGeom>
          <a:solidFill>
            <a:srgbClr val="C8A864">
              <a:alpha val="8000"/>
            </a:srgbClr>
          </a:solidFill>
          <a:ln w="12700">
            <a:solidFill>
              <a:srgbClr val="C8A864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200400"/>
          </a:xfrm>
          <a:prstGeom prst="ellipse">
            <a:avLst/>
          </a:prstGeom>
          <a:solidFill>
            <a:srgbClr val="A83D22">
              <a:alpha val="6000"/>
            </a:srgbClr>
          </a:solidFill>
          <a:ln w="12700">
            <a:solidFill>
              <a:srgbClr val="A83D22">
                <a:alpha val="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2801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000" kern="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760720" y="14173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i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1371600" y="2788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500" kern="0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INTELLIGENCE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371600" y="3246120"/>
            <a:ext cx="2286000" cy="22860"/>
          </a:xfrm>
          <a:prstGeom prst="rect">
            <a:avLst/>
          </a:prstGeom>
          <a:solidFill>
            <a:srgbClr val="D2AF69"/>
          </a:solidFill>
          <a:ln w="12700">
            <a:solidFill>
              <a:srgbClr val="D2AF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429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Catalog &amp; AI Stylist — Alpha 0.06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 α 0.06  ·  ورقلة، الجزائر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نظرة عامة على التطبيق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 — ما الذي يفعله؟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اقتراح تنسيقات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574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يقترح 4 تنسيقات كاملة من مخزون المتجر بناءً على طول الزبون وذوقه وميزانيته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المخزون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5848" y="20574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البائع يسجل قطعه بالألوان والمقاسات والأسعار — الذكاء يحللها ويبني منها التنسيقات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325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ذكاء السوق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27648" y="20574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القطع المكدسة وتوصيات الشراء القادم بناءً على بيانات السوق الجزائري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مستشار الستايل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8862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محادثة مباشرة مع الذكاء حول التنسيقات والمناسبات والألوان — ردود فورية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✦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خاصية القطعة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55848" y="38862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الزبون يضغط على قطعة تعجبه — الذكاء يبني تنسيقين مختلفين حولها فوراً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743200" cy="1691640"/>
          </a:xfrm>
          <a:prstGeom prst="roundRect">
            <a:avLst>
              <a:gd name="adj" fmla="val 540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31546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البائع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27648" y="3886200"/>
            <a:ext cx="2523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Radar يكشف الفرق بين ما يُقترح وما يُشترى — يحدد مشكلة السعر أو التوقيت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شاشة الإنترو — The Onboarding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560320" cy="4114800"/>
          </a:xfrm>
          <a:prstGeom prst="rect">
            <a:avLst/>
          </a:prstGeom>
          <a:solidFill>
            <a:srgbClr val="0D0B09"/>
          </a:solidFill>
          <a:ln w="12700">
            <a:solidFill>
              <a:srgbClr val="8A704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Intelligence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560320" cy="4114800"/>
          </a:xfrm>
          <a:prstGeom prst="rect">
            <a:avLst/>
          </a:prstGeom>
          <a:solidFill>
            <a:srgbClr val="0D0B09"/>
          </a:solidFill>
          <a:ln w="12700">
            <a:solidFill>
              <a:srgbClr val="8A704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1887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الملابس تُنسى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بعد ارتدائها مرة واحدة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822960"/>
            <a:ext cx="2560320" cy="4114800"/>
          </a:xfrm>
          <a:prstGeom prst="rect">
            <a:avLst/>
          </a:prstGeom>
          <a:solidFill>
            <a:srgbClr val="0D0B09"/>
          </a:solidFill>
          <a:ln w="12700">
            <a:solidFill>
              <a:srgbClr val="8A704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194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ستايلك يبدأ هنا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926080"/>
            <a:ext cx="1737360" cy="457200"/>
          </a:xfrm>
          <a:prstGeom prst="roundRect">
            <a:avLst>
              <a:gd name="adj" fmla="val 20000"/>
            </a:avLst>
          </a:prstGeom>
          <a:solidFill>
            <a:srgbClr val="A83D22"/>
          </a:solidFill>
          <a:ln w="12700">
            <a:solidFill>
              <a:srgbClr val="A83D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ابدأ 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شاشة اللوغو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أنيميشن ظهور بطيء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يدوم 2.8 ثانية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Data Hook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رقم 80% يُعدّ تلقائياً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 دائرة ذهبية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الدعوة للعمل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زبون أو بائع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بداية التجربة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تجربة الزبون — Customer Journey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914400"/>
            <a:ext cx="457200" cy="457200"/>
          </a:xfrm>
          <a:prstGeom prst="ellipse">
            <a:avLst/>
          </a:prstGeom>
          <a:solidFill>
            <a:srgbClr val="D2AF69"/>
          </a:solidFill>
          <a:ln w="12700">
            <a:solidFill>
              <a:srgbClr val="D2AF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ملف الزبون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الطول · العمر · البنية · الذوق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المناسبة · الميزانية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2286000"/>
            <a:ext cx="228600" cy="0"/>
          </a:xfrm>
          <a:prstGeom prst="line">
            <a:avLst/>
          </a:prstGeom>
          <a:noFill/>
          <a:ln w="19050">
            <a:solidFill>
              <a:srgbClr val="8A7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005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914400"/>
            <a:ext cx="457200" cy="457200"/>
          </a:xfrm>
          <a:prstGeom prst="ellipse">
            <a:avLst/>
          </a:prstGeom>
          <a:solidFill>
            <a:srgbClr val="D2AF69"/>
          </a:solidFill>
          <a:ln w="12700">
            <a:solidFill>
              <a:srgbClr val="D2AF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الاقتراح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1965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يحلل المخزون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ويبني 4 تنسيقات مناسبة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34840" y="2286000"/>
            <a:ext cx="228600" cy="0"/>
          </a:xfrm>
          <a:prstGeom prst="line">
            <a:avLst/>
          </a:prstGeom>
          <a:noFill/>
          <a:ln w="19050">
            <a:solidFill>
              <a:srgbClr val="8A70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40680" y="914400"/>
            <a:ext cx="457200" cy="457200"/>
          </a:xfrm>
          <a:prstGeom prst="ellipse">
            <a:avLst/>
          </a:prstGeom>
          <a:solidFill>
            <a:srgbClr val="4A7848"/>
          </a:solidFill>
          <a:ln w="12700">
            <a:solidFill>
              <a:srgbClr val="4A78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٣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النتيجة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965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تنسيقات مع صور القطعونسبة التوافق % لكل تنسيق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2286000"/>
            <a:ext cx="228600" cy="0"/>
          </a:xfrm>
          <a:prstGeom prst="line">
            <a:avLst/>
          </a:prstGeom>
          <a:noFill/>
          <a:ln w="19050">
            <a:solidFill>
              <a:srgbClr val="8A7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005840"/>
            <a:ext cx="2011680" cy="2743200"/>
          </a:xfrm>
          <a:prstGeom prst="roundRect">
            <a:avLst>
              <a:gd name="adj" fmla="val 5455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914400"/>
            <a:ext cx="457200" cy="457200"/>
          </a:xfrm>
          <a:prstGeom prst="ellipse">
            <a:avLst/>
          </a:prstGeom>
          <a:solidFill>
            <a:srgbClr val="A83D22"/>
          </a:solidFill>
          <a:ln w="12700">
            <a:solidFill>
              <a:srgbClr val="A83D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0372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التفاعل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03720" y="19659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اضغط قطعة → شاشة تفاصيلها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نسّق تنسيقين حولها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8412480" cy="960120"/>
          </a:xfrm>
          <a:prstGeom prst="rect">
            <a:avLst/>
          </a:prstGeom>
          <a:solidFill>
            <a:srgbClr val="1A1511"/>
          </a:solidFill>
          <a:ln w="12700">
            <a:solidFill>
              <a:srgbClr val="8A7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الأنيميشن في هذه المرحلة: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الضغط على «اقترح تنسيقات» تظهر شاشة تحميل مع حلقة دوارة ذهبية ونصوص متغيرة تشرح ما يفعله الذكاء — ثم تنبثق النتائج بأنيميشن slideUp متتالي لكل بطاقة تنسيق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لوحة البائع — Seller Dashboard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القطع المسجلة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كامل المخزون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50592" y="8686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تحتاج انتباهاً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42032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A83D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42032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نفدت · 2 مكدسة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26864" y="8686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سعر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18304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8A7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18304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دج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03136" y="86868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94576" y="960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متوسط السعر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94576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4A7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94576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دج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286000"/>
            <a:ext cx="4114800" cy="1234440"/>
          </a:xfrm>
          <a:prstGeom prst="rect">
            <a:avLst/>
          </a:prstGeom>
          <a:solidFill>
            <a:srgbClr val="161210"/>
          </a:solidFill>
          <a:ln w="12700">
            <a:solidFill>
              <a:srgbClr val="A83D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القطع المكدسة — Dead Stock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الذكاء يحلل القطع التي تُقترح كثيراً لكن لا تُشترى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يعطي 3 استراتيجيات إنقاذ لكل قطعة: تخفيض · تنسيق جديد · وقف الشراء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286000"/>
            <a:ext cx="4114800" cy="1234440"/>
          </a:xfrm>
          <a:prstGeom prst="rect">
            <a:avLst/>
          </a:prstGeom>
          <a:solidFill>
            <a:srgbClr val="161210"/>
          </a:solidFill>
          <a:ln w="12700">
            <a:solidFill>
              <a:srgbClr val="3A6A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⟡ ذكاء السوق — Market 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7432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يحلل المخزون ويقارنه ببيانات السوق الجزائري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يحدد الفجوات ويوصي بما تشتريه القادم لأعلى ربح ممكن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703320"/>
            <a:ext cx="4114800" cy="1234440"/>
          </a:xfrm>
          <a:prstGeom prst="rect">
            <a:avLst/>
          </a:prstGeom>
          <a:solidFill>
            <a:srgbClr val="161210"/>
          </a:solidFill>
          <a:ln w="12700">
            <a:solidFill>
              <a:srgbClr val="4A78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Trend Radar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شريطان لكل قطعة: نسبة الاقتراح (ذهبي) مقابل نسبة الشراء (أخضر)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الفجوة بينهما تكشف مشكلة السعر أو التوقيت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4114800" cy="1234440"/>
          </a:xfrm>
          <a:prstGeom prst="rect">
            <a:avLst/>
          </a:prstGeom>
          <a:solidFill>
            <a:srgbClr val="161210"/>
          </a:solidFill>
          <a:ln w="12700">
            <a:solidFill>
              <a:srgbClr val="8A7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إضافة قطعة جديدة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41605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البائع يدخل الاسم · النوع · السعر · المقاسات · اللون</a:t>
            </a:r>
            <a:endParaRPr lang="en-US" sz="950" dirty="0"/>
          </a:p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تُضاف فوراً للمخزون وتدخل خوارزمية الاقتراح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الخاصية الخامسة — اضغط قطعة · نسّق تنسيقين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2651760" cy="4023360"/>
          </a:xfrm>
          <a:prstGeom prst="rect">
            <a:avLst/>
          </a:prstGeom>
          <a:solidFill>
            <a:srgbClr val="1C1915"/>
          </a:solidFill>
          <a:ln w="12700">
            <a:solidFill>
              <a:srgbClr val="2A252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960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مخزون المتجر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423160" cy="548640"/>
          </a:xfrm>
          <a:prstGeom prst="rect">
            <a:avLst/>
          </a:prstGeom>
          <a:solidFill>
            <a:srgbClr val="161210"/>
          </a:solidFill>
          <a:ln w="19050">
            <a:solidFill>
              <a:srgbClr val="D2AF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كلاسيكية نيفي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 دج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06040" y="1508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121408"/>
            <a:ext cx="2423160" cy="548640"/>
          </a:xfrm>
          <a:prstGeom prst="rect">
            <a:avLst/>
          </a:prstGeom>
          <a:solidFill>
            <a:srgbClr val="161210"/>
          </a:solidFill>
          <a:ln w="12700">
            <a:solidFill>
              <a:srgbClr val="2220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67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أوكسفورد أبيض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39572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 دج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825496"/>
            <a:ext cx="2423160" cy="548640"/>
          </a:xfrm>
          <a:prstGeom prst="rect">
            <a:avLst/>
          </a:prstGeom>
          <a:solidFill>
            <a:srgbClr val="161210"/>
          </a:solidFill>
          <a:ln w="12700">
            <a:solidFill>
              <a:srgbClr val="22201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جينز أزرق سليم فيت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099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 دج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529584"/>
            <a:ext cx="2423160" cy="548640"/>
          </a:xfrm>
          <a:prstGeom prst="rect">
            <a:avLst/>
          </a:prstGeom>
          <a:solidFill>
            <a:srgbClr val="161210"/>
          </a:solidFill>
          <a:ln w="12700">
            <a:solidFill>
              <a:srgbClr val="2220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5753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جاكيت جلد بني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80390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 دج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880360"/>
            <a:ext cx="457200" cy="0"/>
          </a:xfrm>
          <a:prstGeom prst="line">
            <a:avLst/>
          </a:prstGeom>
          <a:noFill/>
          <a:ln w="25400">
            <a:solidFill>
              <a:srgbClr val="D2AF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20440" y="868680"/>
            <a:ext cx="2560320" cy="4023360"/>
          </a:xfrm>
          <a:prstGeom prst="rect">
            <a:avLst/>
          </a:prstGeom>
          <a:solidFill>
            <a:srgbClr val="0E0C09"/>
          </a:solidFill>
          <a:ln w="19050">
            <a:solidFill>
              <a:srgbClr val="D2AF69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520440" y="868680"/>
            <a:ext cx="2560320" cy="1371600"/>
          </a:xfrm>
          <a:prstGeom prst="rect">
            <a:avLst/>
          </a:prstGeom>
          <a:solidFill>
            <a:srgbClr val="1C2C4A"/>
          </a:solidFill>
          <a:ln w="12700">
            <a:solidFill>
              <a:srgbClr val="1C2C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097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🧥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611880" y="23317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سترة كلاسيكية نيفي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118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3٬200 دج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6118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· L · XL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3474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A83D22"/>
          </a:solidFill>
          <a:ln w="12700">
            <a:solidFill>
              <a:srgbClr val="A83D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3474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نسّق تنسيقين حولها 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2880360"/>
            <a:ext cx="457200" cy="0"/>
          </a:xfrm>
          <a:prstGeom prst="line">
            <a:avLst/>
          </a:prstGeom>
          <a:noFill/>
          <a:ln w="25400">
            <a:solidFill>
              <a:srgbClr val="D2AF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697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960120"/>
            <a:ext cx="2286000" cy="1737360"/>
          </a:xfrm>
          <a:prstGeom prst="rect">
            <a:avLst/>
          </a:prstGeom>
          <a:solidFill>
            <a:srgbClr val="161210"/>
          </a:solidFill>
          <a:ln w="12700">
            <a:solidFill>
              <a:srgbClr val="4A78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1051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كاجوال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20840" y="141732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أوكسفورد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جينز أزرق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5٬800 دج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2926080"/>
            <a:ext cx="2286000" cy="1737360"/>
          </a:xfrm>
          <a:prstGeom prst="rect">
            <a:avLst/>
          </a:prstGeom>
          <a:solidFill>
            <a:srgbClr val="161210"/>
          </a:solidFill>
          <a:ln w="12700">
            <a:solidFill>
              <a:srgbClr val="D2AF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أنيق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338328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بنطلون أسود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حذاء بني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8٬300 دج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دليل الأنيميشن — Animation Behavior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هذا الشرح يعوّض عدم قدرة الملف على نقل الحركات المرئية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420624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1887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اللوغو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03520" y="11887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 → 2.8s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0" y="11887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+ Scale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1887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 يظهر بحركة توسع من المركز مع ضوء ذهبي ناعم ثم يتلاشى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618488"/>
            <a:ext cx="8595360" cy="420624"/>
          </a:xfrm>
          <a:prstGeom prst="rect">
            <a:avLst/>
          </a:prstGeom>
          <a:solidFill>
            <a:srgbClr val="161210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0" y="1664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الإنترو S1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0" y="16642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0.5s → 1.8s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6642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+ 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الرقم 80 يُعدّ من 0 بحركة cubic ease-out مع دائرة ذهبية تمتلئ معه بالتزامن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093976"/>
            <a:ext cx="8595360" cy="420624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213969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الإنترو S2→S3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0" y="21396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0.7s transition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21396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+ Fade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1396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الشاشات تنتقل بحركة translateX أفقية ناعمة مع تلاشي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8595360" cy="420624"/>
          </a:xfrm>
          <a:prstGeom prst="rect">
            <a:avLst/>
          </a:prstGeom>
          <a:solidFill>
            <a:srgbClr val="161210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2615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بطاقات التنسيق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3520" y="26151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0.08s delay each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26151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2615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 بطاقة تظهر بتأخير 80ms عن السابقة — تأثير cascade من الأسفل للأعلى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44952"/>
            <a:ext cx="8595360" cy="420624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30906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شاشة التحميل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03520" y="309067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loop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30906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+ Pulse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0906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حلقة دوارة 44px ذهبية مع نص يتبدل ويومض بحركة ease-in-out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8595360" cy="420624"/>
          </a:xfrm>
          <a:prstGeom prst="rect">
            <a:avLst/>
          </a:prstGeom>
          <a:solidFill>
            <a:srgbClr val="161210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5661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Sheet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303520" y="356616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0.45s spring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0" y="35661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Up Modal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35661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الشاشة تنبثق من الأسفل بحركة cubic-bezier(.34,1.2,.64,1) — تأثير مطاطي خفيف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995928"/>
            <a:ext cx="8595360" cy="420624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4041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الأزرار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03520" y="40416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0.2-0.35s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404164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Glow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4041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عند الضغط: scale(0.97) + box-shadow تتضاعف — تأثير نبضة فورية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471416"/>
            <a:ext cx="8595360" cy="420624"/>
          </a:xfrm>
          <a:prstGeom prst="rect">
            <a:avLst/>
          </a:prstGeom>
          <a:solidFill>
            <a:srgbClr val="161210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451713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البطاقات عند hover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03520" y="45171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0.25s spring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0" y="451713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+ Border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51713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translateY(-4px) مع توهج ذهبي خفيف — تأثير رفع ثلاثي الأبعاد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Data — مخزون المتجر التجريبي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قطعة رجالية حقيقية بصور نظيفة من متاجر — لا أشخاص، لا موديلات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252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C2C4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79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كلاسيكية نيفي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· M·L·XL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91840" y="11795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3200 دج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4447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379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8E4D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أوكسفورد أبيض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· S·M·L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9184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2100 دج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0574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368296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505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A4A7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جينز أزرق سليم فيت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2642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جينز · 30·32·34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2404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2800 دج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2980944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063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C30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جاكيت جلد بني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جاكيت · M·L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5500 دج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2826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3593592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6758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C8B89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بنطلون بيج كاجوال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3867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بنطلون · 32·34·36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3630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 دج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91840" y="38953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آخر القطع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4206240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8D4CC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تيشيرت أبيض أساسي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480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تيشيرت · S·M·L·XL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91840" y="42428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دج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91840" y="4507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1143000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22529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7A401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57800" y="1179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حذاء جلد بني كلاسيك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حذاء · 40·41·42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726680" y="11795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4200 دج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26680" y="14447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09160" y="1755648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00600" y="1837944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7800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بنطلون أسود فورمال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57800" y="2029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بنطلون · 30·32·34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726680" y="17922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3100 دج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26680" y="20574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09160" y="2368296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00600" y="24505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C0C0BC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2404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هودي رمادي فاتح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57800" y="26426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· M·L·XL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726680" y="2404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2400 دج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26680" y="267004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09160" y="2980944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00600" y="30632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E0E0D8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780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سنيكرز أبيض كلاسيك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57800" y="32552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حذاء · 40·41·42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726680" y="30175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3800 دج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726680" y="32826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709160" y="3593592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0600" y="3675888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7A3030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5780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كاروه فلانيل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257800" y="3867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قميص · S·M·L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726680" y="3630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 دج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726680" y="389534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متوفر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709160" y="4206240"/>
            <a:ext cx="4251960" cy="530352"/>
          </a:xfrm>
          <a:prstGeom prst="rect">
            <a:avLst/>
          </a:prstGeom>
          <a:solidFill>
            <a:srgbClr val="111009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00600" y="4288536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2A2A2A"/>
          </a:solidFill>
          <a:ln w="6350">
            <a:solidFill>
              <a:srgbClr val="2A25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57800" y="4242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D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رياضية سوداء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257800" y="4480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سترة · M·L·XL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726680" y="424281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F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2600 دج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726680" y="45079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8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آخر القطع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خارطة الأفكار — ما تم وما قادم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0" y="8229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A7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مُنجز — Alpha 0.06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0" y="1234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واجهة زبون كاملة بملف شخصي + مناسبة + ميزانية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29200" y="1691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ذكاء اصطناعي حقيقي يقترح 4 تنسيقات من المخزون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0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لوحة بائع كاملة مع 4 تبويبات AI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0" y="26060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إنترو Data Hook — رقم 80% مع أنيميشن دائرة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شاشة لوغو بأنيميشن ظهور بطيء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0" y="35204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Data — 12 قطعة بصور حقيقية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0" y="3977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الخاصية الخامسة — Product Sheet + تنسيقان فوريان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4434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8C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دراسة جدوى كاملة + خارطة طريق موثقة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8229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⟡ قادم — الإصدار الثاني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2344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261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الدخول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1261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حساب دائم للزبون والبائع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16916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خزانتي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الزبون يسجل ملابسه الحالية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2176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تخطيط التسوق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176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يخطط رحلة التسوق قبلها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6060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2633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Rating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26334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نسبة مئوية لكل إطلالة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3090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المشاركة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0906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الزبون يشارك تقييمه على السوشيال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5204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35478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تحديات الأناقة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35478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مسابقات برعاية علامات تجارية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9776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 for Business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باقة المتاجر الكبيرة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4434840"/>
            <a:ext cx="4389120" cy="384048"/>
          </a:xfrm>
          <a:prstGeom prst="rect">
            <a:avLst/>
          </a:prstGeom>
          <a:solidFill>
            <a:srgbClr val="0F0D0B"/>
          </a:solidFill>
          <a:ln w="12700">
            <a:solidFill>
              <a:srgbClr val="1E1B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44622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Passport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4622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جواز سفر أناقة يتراكم مع الوقت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4114800"/>
          </a:xfrm>
          <a:prstGeom prst="ellipse">
            <a:avLst/>
          </a:prstGeom>
          <a:solidFill>
            <a:srgbClr val="C8A864">
              <a:alpha val="5000"/>
            </a:srgbClr>
          </a:solidFill>
          <a:ln w="12700">
            <a:solidFill>
              <a:srgbClr val="C8A864">
                <a:alpha val="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1200" kern="0" dirty="0">
                <a:solidFill>
                  <a:srgbClr val="D2AF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WARDRO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DE3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ليس مجرد تطبيق — بل ثقافة أناقة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22860"/>
          </a:xfrm>
          <a:prstGeom prst="rect">
            <a:avLst/>
          </a:prstGeom>
          <a:solidFill>
            <a:srgbClr val="D2AF69"/>
          </a:solidFill>
          <a:ln w="12700">
            <a:solidFill>
              <a:srgbClr val="D2AF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A7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Catalog &amp; AI Stylist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ورقلة، الجزائر  ·  Alpha 0.06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Wardro Alpha 0.06 — Fashion Intelligence</dc:title>
  <dc:subject>PptxGenJS Presentation</dc:subject>
  <dc:creator>Wardro</dc:creator>
  <cp:lastModifiedBy>Wardro</cp:lastModifiedBy>
  <cp:revision>1</cp:revision>
  <dcterms:created xsi:type="dcterms:W3CDTF">2026-04-29T22:22:01Z</dcterms:created>
  <dcterms:modified xsi:type="dcterms:W3CDTF">2026-04-29T22:22:01Z</dcterms:modified>
</cp:coreProperties>
</file>